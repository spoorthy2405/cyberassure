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ublic Sans" charset="1" panose="00000000000000000000"/>
      <p:regular r:id="rId16"/>
    </p:embeddedFont>
    <p:embeddedFont>
      <p:font typeface="Times New Roman MT Bold" charset="1" panose="02030802070405020303"/>
      <p:regular r:id="rId17"/>
    </p:embeddedFont>
    <p:embeddedFont>
      <p:font typeface="Times New Roman Bold" charset="1" panose="02020803070505020304"/>
      <p:regular r:id="rId18"/>
    </p:embeddedFont>
    <p:embeddedFont>
      <p:font typeface="The Seasons Bold" charset="1" panose="00000000000000000000"/>
      <p:regular r:id="rId19"/>
    </p:embeddedFont>
    <p:embeddedFont>
      <p:font typeface="Times New Roman" charset="1" panose="02020603050405020304"/>
      <p:regular r:id="rId20"/>
    </p:embeddedFont>
    <p:embeddedFont>
      <p:font typeface="Times New Roman MT Medium" charset="1" panose="02030502070405020303"/>
      <p:regular r:id="rId21"/>
    </p:embeddedFont>
    <p:embeddedFont>
      <p:font typeface="Times New Roman MT" charset="1" panose="020305020704050203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B1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8292" y="6061834"/>
            <a:ext cx="11251416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4"/>
              </a:lnSpc>
              <a:spcBef>
                <a:spcPct val="0"/>
              </a:spcBef>
            </a:pPr>
            <a:r>
              <a:rPr lang="en-US" sz="2424" spc="24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SECURE</a:t>
            </a:r>
            <a:r>
              <a:rPr lang="en-US" sz="2424" spc="242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RISKS. SMARTER CLAIMS.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64235" y="3554413"/>
            <a:ext cx="11959530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b="true" sz="12000" spc="-24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CYBER ASSURE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20135" y="9172575"/>
            <a:ext cx="6381750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 : Mudragada Spoorthy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7595" y="1443038"/>
            <a:ext cx="8336552" cy="6971419"/>
          </a:xfrm>
          <a:custGeom>
            <a:avLst/>
            <a:gdLst/>
            <a:ahLst/>
            <a:cxnLst/>
            <a:rect r="r" b="b" t="t" l="l"/>
            <a:pathLst>
              <a:path h="6971419" w="8336552">
                <a:moveTo>
                  <a:pt x="0" y="0"/>
                </a:moveTo>
                <a:lnTo>
                  <a:pt x="8336552" y="0"/>
                </a:lnTo>
                <a:lnTo>
                  <a:pt x="8336552" y="6971418"/>
                </a:lnTo>
                <a:lnTo>
                  <a:pt x="0" y="6971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317" t="0" r="-1045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829803" y="1328738"/>
            <a:ext cx="8604921" cy="1779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b="true" sz="5499" u="sng">
                <a:solidFill>
                  <a:srgbClr val="FFFFFF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THE RISING THREAT</a:t>
            </a:r>
          </a:p>
          <a:p>
            <a:pPr algn="l" marL="0" indent="0" lvl="0">
              <a:lnSpc>
                <a:spcPts val="65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2610467"/>
            <a:ext cx="8604921" cy="532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08"/>
              </a:lnSpc>
              <a:spcBef>
                <a:spcPct val="0"/>
              </a:spcBef>
            </a:pPr>
            <a:r>
              <a:rPr lang="en-US" sz="336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Organizations a</a:t>
            </a:r>
            <a:r>
              <a:rPr lang="en-US" sz="3363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 becoming more vulnerable to cyber attacks, which can cause serious financial and operational damage. However, many organizations do not have a clear and centralized system to manage cyber risks, report incidents, and handle claims. Without a single platform to manage these processes, recovery becomes slower and coordination between different stakeholders becomes difficult.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0" y="0"/>
            <a:ext cx="18288000" cy="10287000"/>
          </a:xfrm>
          <a:prstGeom prst="rect">
            <a:avLst/>
          </a:prstGeom>
          <a:solidFill>
            <a:srgbClr val="0B1532">
              <a:alpha val="86667"/>
            </a:srgbClr>
          </a:solidFill>
        </p:spPr>
      </p:sp>
      <p:sp>
        <p:nvSpPr>
          <p:cNvPr name="TextBox 4" id="4"/>
          <p:cNvSpPr txBox="true"/>
          <p:nvPr/>
        </p:nvSpPr>
        <p:spPr>
          <a:xfrm rot="0">
            <a:off x="1588231" y="3086100"/>
            <a:ext cx="15848050" cy="408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9"/>
              </a:lnSpc>
            </a:pPr>
            <a:r>
              <a:rPr lang="en-US" sz="444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CyberAssure is a centralized digital platform that helps organizations manage cyber risk protection through streamlined policy management, efficient incident reporting, and structured claim processing. It connects administrators, underwriters, claims officers, and customers on a single platform to ensure transparent risk evaluation and faster claim assessment.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50268" y="1442585"/>
            <a:ext cx="14602749" cy="117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7"/>
              </a:lnSpc>
            </a:pPr>
            <a:r>
              <a:rPr lang="en-US" b="true" sz="6162" u="sng">
                <a:solidFill>
                  <a:srgbClr val="FFEDB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Where Security Meets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817142" y="2590256"/>
            <a:ext cx="1352419" cy="1352419"/>
            <a:chOff x="0" y="0"/>
            <a:chExt cx="6355080" cy="6355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489381" y="1619425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8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0560564" y="2469303"/>
            <a:ext cx="1250087" cy="1250087"/>
            <a:chOff x="0" y="0"/>
            <a:chExt cx="6355080" cy="6355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4830077" y="2469303"/>
            <a:ext cx="1356956" cy="1356956"/>
            <a:chOff x="0" y="0"/>
            <a:chExt cx="6355080" cy="6355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937596" y="2809013"/>
            <a:ext cx="1061441" cy="810555"/>
          </a:xfrm>
          <a:custGeom>
            <a:avLst/>
            <a:gdLst/>
            <a:ahLst/>
            <a:cxnLst/>
            <a:rect r="r" b="b" t="t" l="l"/>
            <a:pathLst>
              <a:path h="810555" w="1061441">
                <a:moveTo>
                  <a:pt x="0" y="0"/>
                </a:moveTo>
                <a:lnTo>
                  <a:pt x="1061442" y="0"/>
                </a:lnTo>
                <a:lnTo>
                  <a:pt x="1061442" y="810555"/>
                </a:lnTo>
                <a:lnTo>
                  <a:pt x="0" y="8105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6160332" y="2469303"/>
            <a:ext cx="1352419" cy="1352419"/>
            <a:chOff x="0" y="0"/>
            <a:chExt cx="6355080" cy="6355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6271975" y="2490434"/>
            <a:ext cx="1129134" cy="1129134"/>
          </a:xfrm>
          <a:custGeom>
            <a:avLst/>
            <a:gdLst/>
            <a:ahLst/>
            <a:cxnLst/>
            <a:rect r="r" b="b" t="t" l="l"/>
            <a:pathLst>
              <a:path h="1129134" w="1129134">
                <a:moveTo>
                  <a:pt x="0" y="0"/>
                </a:moveTo>
                <a:lnTo>
                  <a:pt x="1129134" y="0"/>
                </a:lnTo>
                <a:lnTo>
                  <a:pt x="1129134" y="1129134"/>
                </a:lnTo>
                <a:lnTo>
                  <a:pt x="0" y="11291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789351" y="2681472"/>
            <a:ext cx="874252" cy="880656"/>
          </a:xfrm>
          <a:custGeom>
            <a:avLst/>
            <a:gdLst/>
            <a:ahLst/>
            <a:cxnLst/>
            <a:rect r="r" b="b" t="t" l="l"/>
            <a:pathLst>
              <a:path h="880656" w="874252">
                <a:moveTo>
                  <a:pt x="0" y="0"/>
                </a:moveTo>
                <a:lnTo>
                  <a:pt x="874252" y="0"/>
                </a:lnTo>
                <a:lnTo>
                  <a:pt x="874252" y="880657"/>
                </a:lnTo>
                <a:lnTo>
                  <a:pt x="0" y="8806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056258" y="2681472"/>
            <a:ext cx="975337" cy="938096"/>
          </a:xfrm>
          <a:custGeom>
            <a:avLst/>
            <a:gdLst/>
            <a:ahLst/>
            <a:cxnLst/>
            <a:rect r="r" b="b" t="t" l="l"/>
            <a:pathLst>
              <a:path h="938096" w="975337">
                <a:moveTo>
                  <a:pt x="0" y="0"/>
                </a:moveTo>
                <a:lnTo>
                  <a:pt x="975336" y="0"/>
                </a:lnTo>
                <a:lnTo>
                  <a:pt x="975336" y="938096"/>
                </a:lnTo>
                <a:lnTo>
                  <a:pt x="0" y="9380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937307" y="381000"/>
            <a:ext cx="12205242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315932" y="4220428"/>
            <a:ext cx="4354839" cy="2856147"/>
            <a:chOff x="0" y="0"/>
            <a:chExt cx="5806452" cy="3808196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1391175"/>
              <a:ext cx="5806452" cy="2417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</a:t>
              </a:r>
              <a:r>
                <a:rPr lang="en-US" sz="2600" u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isters company details, requests and purchases policies, reports cyber incidents, and raises claim requests.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-85725"/>
              <a:ext cx="5806452" cy="726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Customer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882012" y="4220428"/>
            <a:ext cx="4157916" cy="3290607"/>
            <a:chOff x="0" y="0"/>
            <a:chExt cx="5543887" cy="4387476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1360854"/>
              <a:ext cx="5543887" cy="30266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Manages secto</a:t>
              </a:r>
              <a:r>
                <a:rPr lang="en-US" sz="2600" u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r-wise policies, oversees system operations, assigns underwriters and claims officers, and monitors claim analytics.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-85725"/>
              <a:ext cx="5069018" cy="726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Admin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0" y="4374373"/>
            <a:ext cx="4037661" cy="2719705"/>
            <a:chOff x="0" y="0"/>
            <a:chExt cx="5383548" cy="3626273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1209252"/>
              <a:ext cx="5383548" cy="2417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Evaluat</a:t>
              </a:r>
              <a:r>
                <a:rPr lang="en-US" sz="2600" u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es policy requests, verifies organizational risk details, and approves or rejects policy applications.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-85725"/>
              <a:ext cx="5383548" cy="726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Under writer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550039" y="4374373"/>
            <a:ext cx="3709261" cy="4091305"/>
            <a:chOff x="0" y="0"/>
            <a:chExt cx="4945682" cy="5455073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1209252"/>
              <a:ext cx="4945682" cy="4245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</a:t>
              </a:r>
              <a:r>
                <a:rPr lang="en-US" sz="2600" u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iews incident reports, assesses claims using defined factors, and determines claim approval or rejection.</a:t>
              </a:r>
            </a:p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</a:p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84561" y="-85725"/>
              <a:ext cx="4561121" cy="726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Claims Officer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3169561" y="201722"/>
            <a:ext cx="12205242" cy="1515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0"/>
              </a:lnSpc>
            </a:pPr>
            <a:r>
              <a:rPr lang="en-US" sz="86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Who Drives the System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97441" y="502432"/>
            <a:ext cx="8258721" cy="9408373"/>
          </a:xfrm>
          <a:custGeom>
            <a:avLst/>
            <a:gdLst/>
            <a:ahLst/>
            <a:cxnLst/>
            <a:rect r="r" b="b" t="t" l="l"/>
            <a:pathLst>
              <a:path h="9408373" w="8258721">
                <a:moveTo>
                  <a:pt x="0" y="0"/>
                </a:moveTo>
                <a:lnTo>
                  <a:pt x="8258721" y="0"/>
                </a:lnTo>
                <a:lnTo>
                  <a:pt x="8258721" y="9408373"/>
                </a:lnTo>
                <a:lnTo>
                  <a:pt x="0" y="940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94" t="-3860" r="-4269" b="-422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335711"/>
            <a:ext cx="5813735" cy="227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</a:pPr>
            <a:r>
              <a:rPr lang="en-US" b="true" sz="7000">
                <a:solidFill>
                  <a:srgbClr val="FFFFFF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Appl</a:t>
            </a:r>
            <a:r>
              <a:rPr lang="en-US" b="true" sz="7000" u="none">
                <a:solidFill>
                  <a:srgbClr val="FFFFFF"/>
                </a:solidFill>
                <a:latin typeface="Times New Roman MT Medium"/>
                <a:ea typeface="Times New Roman MT Medium"/>
                <a:cs typeface="Times New Roman MT Medium"/>
                <a:sym typeface="Times New Roman MT Medium"/>
              </a:rPr>
              <a:t>ication Process Flow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20519" y="1751698"/>
            <a:ext cx="13646962" cy="8188177"/>
          </a:xfrm>
          <a:custGeom>
            <a:avLst/>
            <a:gdLst/>
            <a:ahLst/>
            <a:cxnLst/>
            <a:rect r="r" b="b" t="t" l="l"/>
            <a:pathLst>
              <a:path h="8188177" w="13646962">
                <a:moveTo>
                  <a:pt x="0" y="0"/>
                </a:moveTo>
                <a:lnTo>
                  <a:pt x="13646962" y="0"/>
                </a:lnTo>
                <a:lnTo>
                  <a:pt x="13646962" y="8188177"/>
                </a:lnTo>
                <a:lnTo>
                  <a:pt x="0" y="81881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67172" y="297018"/>
            <a:ext cx="11626004" cy="1310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22"/>
              </a:lnSpc>
            </a:pPr>
            <a:r>
              <a:rPr lang="en-US" sz="760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Archi</a:t>
            </a:r>
            <a:r>
              <a:rPr lang="en-US" sz="7602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tecture Workflow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07115" y="2497801"/>
            <a:ext cx="6073771" cy="6520556"/>
          </a:xfrm>
          <a:custGeom>
            <a:avLst/>
            <a:gdLst/>
            <a:ahLst/>
            <a:cxnLst/>
            <a:rect r="r" b="b" t="t" l="l"/>
            <a:pathLst>
              <a:path h="6520556" w="6073771">
                <a:moveTo>
                  <a:pt x="0" y="0"/>
                </a:moveTo>
                <a:lnTo>
                  <a:pt x="6073770" y="0"/>
                </a:lnTo>
                <a:lnTo>
                  <a:pt x="6073770" y="6520556"/>
                </a:lnTo>
                <a:lnTo>
                  <a:pt x="0" y="6520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4706" y="1641776"/>
            <a:ext cx="17662097" cy="763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346" indent="-263673" lvl="1">
              <a:lnSpc>
                <a:spcPts val="6106"/>
              </a:lnSpc>
              <a:buAutoNum type="arabicPeriod" startAt="1"/>
            </a:pPr>
            <a:r>
              <a:rPr lang="en-US" sz="2442" spc="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Coverage &amp; Remaining Limit:</a:t>
            </a:r>
            <a:r>
              <a:rPr lang="en-US" sz="2442" spc="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Ensures the claim amount does not exceed the policy’s vested coverage and remaining benefits.</a:t>
            </a:r>
          </a:p>
          <a:p>
            <a:pPr algn="l" marL="527346" indent="-263673" lvl="1">
              <a:lnSpc>
                <a:spcPts val="6106"/>
              </a:lnSpc>
              <a:buAutoNum type="arabicPeriod" startAt="1"/>
            </a:pPr>
            <a:r>
              <a:rPr lang="en-US" sz="2442" spc="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42" spc="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42" spc="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olicy Validity Check:</a:t>
            </a:r>
            <a:r>
              <a:rPr lang="en-US" sz="2442" spc="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Verifies that the incident occurred within the active policy period.</a:t>
            </a:r>
          </a:p>
          <a:p>
            <a:pPr algn="l" marL="527346" indent="-263673" lvl="1">
              <a:lnSpc>
                <a:spcPts val="6106"/>
              </a:lnSpc>
              <a:buAutoNum type="arabicPeriod" startAt="1"/>
            </a:pPr>
            <a:r>
              <a:rPr lang="en-US" sz="2442" spc="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Covered Incident Type: Confirms that the reported cyber incident is included in the policy benefits.</a:t>
            </a:r>
          </a:p>
          <a:p>
            <a:pPr algn="l" marL="527346" indent="-263673" lvl="1">
              <a:lnSpc>
                <a:spcPts val="6106"/>
              </a:lnSpc>
              <a:buAutoNum type="arabicPeriod" startAt="1"/>
            </a:pPr>
            <a:r>
              <a:rPr lang="en-US" sz="2442" spc="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Deductible Rule: Applies the policy’s deductible amount that the policyholder must bear before insurance payout.</a:t>
            </a:r>
          </a:p>
          <a:p>
            <a:pPr algn="l" marL="527346" indent="-263673" lvl="1">
              <a:lnSpc>
                <a:spcPts val="6106"/>
              </a:lnSpc>
              <a:buAutoNum type="arabicPeriod" startAt="1"/>
            </a:pPr>
            <a:r>
              <a:rPr lang="en-US" sz="2442" spc="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Timely Reporting (30-Day Rule): Checks whether the claim was filed within 30 days of the incident occurrence.</a:t>
            </a:r>
          </a:p>
          <a:p>
            <a:pPr algn="l" marL="527346" indent="-263673" lvl="1">
              <a:lnSpc>
                <a:spcPts val="6106"/>
              </a:lnSpc>
              <a:buAutoNum type="arabicPeriod" startAt="1"/>
            </a:pPr>
            <a:r>
              <a:rPr lang="en-US" sz="2442" spc="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Evidence Verification: Validates supporting proof such as uploaded documents or police reports.</a:t>
            </a:r>
          </a:p>
          <a:p>
            <a:pPr algn="l" marL="527346" indent="-263673" lvl="1">
              <a:lnSpc>
                <a:spcPts val="6106"/>
              </a:lnSpc>
              <a:buAutoNum type="arabicPeriod" startAt="1"/>
            </a:pPr>
            <a:r>
              <a:rPr lang="en-US" sz="2442" spc="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Sub-Limit Threshold Check: Flags claims exceeding 50% of policy coverage for additional review.</a:t>
            </a:r>
          </a:p>
          <a:p>
            <a:pPr algn="l" marL="527346" indent="-263673" lvl="1">
              <a:lnSpc>
                <a:spcPts val="6106"/>
              </a:lnSpc>
              <a:buAutoNum type="arabicPeriod" startAt="1"/>
            </a:pPr>
            <a:r>
              <a:rPr lang="en-US" sz="2442" spc="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Claim Frequency Analysis: Evaluates previous settled claims to detect unusually frequent claim patterns.</a:t>
            </a:r>
          </a:p>
          <a:p>
            <a:pPr algn="l" marL="527346" indent="-263673" lvl="1">
              <a:lnSpc>
                <a:spcPts val="6106"/>
              </a:lnSpc>
              <a:buAutoNum type="arabicPeriod" startAt="1"/>
            </a:pPr>
            <a:r>
              <a:rPr lang="en-US" sz="2442" spc="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Fraud Suspicion Detection: Identifies suspicious claims based on missing evidence or abnormal claim behaviour.</a:t>
            </a:r>
          </a:p>
          <a:p>
            <a:pPr algn="l" marL="527346" indent="-263673" lvl="1">
              <a:lnSpc>
                <a:spcPts val="6106"/>
              </a:lnSpc>
              <a:buAutoNum type="arabicPeriod" startAt="1"/>
            </a:pPr>
            <a:r>
              <a:rPr lang="en-US" sz="2442" spc="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Recommended Payout Calculation: De</a:t>
            </a:r>
            <a:r>
              <a:rPr lang="en-US" sz="2442" spc="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termines the final payable amount considering policy limits, remaining coverage,and deductible.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49698" y="336556"/>
            <a:ext cx="14588604" cy="1182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80"/>
              </a:lnSpc>
            </a:pPr>
            <a:r>
              <a:rPr lang="en-US" b="true" sz="67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Decision Engine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13520" y="4295140"/>
            <a:ext cx="3643373" cy="4114800"/>
          </a:xfrm>
          <a:custGeom>
            <a:avLst/>
            <a:gdLst/>
            <a:ahLst/>
            <a:cxnLst/>
            <a:rect r="r" b="b" t="t" l="l"/>
            <a:pathLst>
              <a:path h="4114800" w="3643373">
                <a:moveTo>
                  <a:pt x="0" y="0"/>
                </a:moveTo>
                <a:lnTo>
                  <a:pt x="3643374" y="0"/>
                </a:lnTo>
                <a:lnTo>
                  <a:pt x="36433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15152" y="1307249"/>
            <a:ext cx="9629148" cy="7951051"/>
            <a:chOff x="0" y="0"/>
            <a:chExt cx="12838864" cy="106014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8549041" y="0"/>
              <a:ext cx="1792265" cy="1792265"/>
            </a:xfrm>
            <a:custGeom>
              <a:avLst/>
              <a:gdLst/>
              <a:ahLst/>
              <a:cxnLst/>
              <a:rect r="r" b="b" t="t" l="l"/>
              <a:pathLst>
                <a:path h="1792265" w="1792265">
                  <a:moveTo>
                    <a:pt x="0" y="0"/>
                  </a:moveTo>
                  <a:lnTo>
                    <a:pt x="1792264" y="0"/>
                  </a:lnTo>
                  <a:lnTo>
                    <a:pt x="1792264" y="1792265"/>
                  </a:lnTo>
                  <a:lnTo>
                    <a:pt x="0" y="1792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01431" y="5251531"/>
              <a:ext cx="1707550" cy="2139300"/>
            </a:xfrm>
            <a:custGeom>
              <a:avLst/>
              <a:gdLst/>
              <a:ahLst/>
              <a:cxnLst/>
              <a:rect r="r" b="b" t="t" l="l"/>
              <a:pathLst>
                <a:path h="2139300" w="1707550">
                  <a:moveTo>
                    <a:pt x="0" y="0"/>
                  </a:moveTo>
                  <a:lnTo>
                    <a:pt x="1707550" y="0"/>
                  </a:lnTo>
                  <a:lnTo>
                    <a:pt x="1707550" y="2139299"/>
                  </a:lnTo>
                  <a:lnTo>
                    <a:pt x="0" y="2139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8402399" y="5409369"/>
              <a:ext cx="1823623" cy="1823623"/>
            </a:xfrm>
            <a:custGeom>
              <a:avLst/>
              <a:gdLst/>
              <a:ahLst/>
              <a:cxnLst/>
              <a:rect r="r" b="b" t="t" l="l"/>
              <a:pathLst>
                <a:path h="1823623" w="1823623">
                  <a:moveTo>
                    <a:pt x="0" y="0"/>
                  </a:moveTo>
                  <a:lnTo>
                    <a:pt x="1823624" y="0"/>
                  </a:lnTo>
                  <a:lnTo>
                    <a:pt x="1823624" y="1823623"/>
                  </a:lnTo>
                  <a:lnTo>
                    <a:pt x="0" y="1823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588742" y="0"/>
              <a:ext cx="1714060" cy="1859434"/>
            </a:xfrm>
            <a:custGeom>
              <a:avLst/>
              <a:gdLst/>
              <a:ahLst/>
              <a:cxnLst/>
              <a:rect r="r" b="b" t="t" l="l"/>
              <a:pathLst>
                <a:path h="1859434" w="1714060">
                  <a:moveTo>
                    <a:pt x="0" y="0"/>
                  </a:moveTo>
                  <a:lnTo>
                    <a:pt x="1714060" y="0"/>
                  </a:lnTo>
                  <a:lnTo>
                    <a:pt x="1714060" y="1859434"/>
                  </a:lnTo>
                  <a:lnTo>
                    <a:pt x="0" y="1859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2975509"/>
              <a:ext cx="5343189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Faster f</a:t>
              </a:r>
              <a:r>
                <a:rPr lang="en-US" sz="2600" u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inancial recovery after cyber incidents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878978"/>
              <a:ext cx="5343189" cy="726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Financial Recovery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6642616" y="3012309"/>
              <a:ext cx="5343189" cy="1807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</a:t>
              </a:r>
              <a:r>
                <a:rPr lang="en-US" sz="2600" u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reamlines the entire process, reducing manual work.  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6642616" y="1878978"/>
              <a:ext cx="6108357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Automated Insurance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9213079"/>
              <a:ext cx="5343189" cy="1197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Enabl</a:t>
              </a:r>
              <a:r>
                <a:rPr lang="en-US" sz="2600" u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es sector-wise policy management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83611" y="7626003"/>
              <a:ext cx="5343189" cy="1475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Effic</a:t>
              </a:r>
              <a:r>
                <a:rPr lang="en-US" b="true" sz="3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ient Policy Management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942151" y="8793979"/>
              <a:ext cx="5343189" cy="18074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US" sz="2600" u="non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eplaces manual bias with automated, system-calculated settlements.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554726" y="7626003"/>
              <a:ext cx="6284138" cy="726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</a:t>
              </a:r>
              <a:r>
                <a:rPr lang="en-US" b="true" sz="3200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ata-Driven Objectivity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0" y="1269149"/>
            <a:ext cx="8045379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</a:pPr>
            <a:r>
              <a:rPr lang="en-US" b="true" sz="8000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That Matters!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83082" y="2034624"/>
            <a:ext cx="9997333" cy="6032606"/>
          </a:xfrm>
          <a:custGeom>
            <a:avLst/>
            <a:gdLst/>
            <a:ahLst/>
            <a:cxnLst/>
            <a:rect r="r" b="b" t="t" l="l"/>
            <a:pathLst>
              <a:path h="6032606" w="9997333">
                <a:moveTo>
                  <a:pt x="0" y="0"/>
                </a:moveTo>
                <a:lnTo>
                  <a:pt x="9997333" y="0"/>
                </a:lnTo>
                <a:lnTo>
                  <a:pt x="9997333" y="6032606"/>
                </a:lnTo>
                <a:lnTo>
                  <a:pt x="0" y="6032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3459" y="1337283"/>
            <a:ext cx="5301155" cy="915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820633" y="2390660"/>
            <a:ext cx="4813745" cy="548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CyberAssure delivers a unified platform for managing cyber insurance operations, including policy administration, incident reporting, and claim processing.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integrating stakeh</a:t>
            </a:r>
            <a:r>
              <a:rPr lang="en-US" sz="2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olders and leveraging a rule-based claim evaluation system, it enhances transparency, accelerates decision-making, and strengthens organizational response to cyber threats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26783" y="4046284"/>
            <a:ext cx="9525" cy="21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75473" y="2195803"/>
            <a:ext cx="6007608" cy="612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</a:p>
          <a:p>
            <a:pPr algn="l" marL="538948" indent="-269474" lvl="1">
              <a:lnSpc>
                <a:spcPts val="3494"/>
              </a:lnSpc>
              <a:buFont typeface="Arial"/>
              <a:buChar char="•"/>
            </a:pPr>
            <a:r>
              <a:rPr lang="en-US" b="true" sz="249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AI-Driven Risk Intelligence</a:t>
            </a:r>
            <a:r>
              <a:rPr lang="en-US" sz="249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Leverage advanced machine learning models to predict cyber risks and enhance fraud detection accuracy.</a:t>
            </a:r>
          </a:p>
          <a:p>
            <a:pPr algn="l" marL="538948" indent="-269474" lvl="1">
              <a:lnSpc>
                <a:spcPts val="3494"/>
              </a:lnSpc>
              <a:buFont typeface="Arial"/>
              <a:buChar char="•"/>
            </a:pPr>
            <a:r>
              <a:rPr lang="en-US" b="true" sz="249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Threat Monitoring</a:t>
            </a:r>
            <a:r>
              <a:rPr lang="en-US" sz="249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Integrate with cybersecurity systems to enable continuous threat tracking and instant alerts.</a:t>
            </a:r>
          </a:p>
          <a:p>
            <a:pPr algn="l" marL="538948" indent="-269474" lvl="1">
              <a:lnSpc>
                <a:spcPts val="3494"/>
              </a:lnSpc>
              <a:buFont typeface="Arial"/>
              <a:buChar char="•"/>
            </a:pPr>
            <a:r>
              <a:rPr lang="en-US" b="true" sz="249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 Application Integration</a:t>
            </a:r>
            <a:r>
              <a:rPr lang="en-US" sz="249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Develop a user-friendly mobile app for seamless policy management, incident reporting, and claim tracking.</a:t>
            </a:r>
          </a:p>
          <a:p>
            <a:pPr algn="l">
              <a:lnSpc>
                <a:spcPts val="349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337283"/>
            <a:ext cx="5301155" cy="915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Road Ahead..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B1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64273" y="3327243"/>
            <a:ext cx="8959453" cy="1983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561"/>
              </a:lnSpc>
              <a:spcBef>
                <a:spcPct val="0"/>
              </a:spcBef>
            </a:pPr>
            <a:r>
              <a:rPr lang="en-US" b="true" sz="104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THANK YOU 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511873" y="5057775"/>
            <a:ext cx="9111853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Let’s Secure the Future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DAHDwC0mmNY</dc:identifier>
  <dcterms:modified xsi:type="dcterms:W3CDTF">2011-08-01T06:04:30Z</dcterms:modified>
  <cp:revision>1</cp:revision>
  <dc:title>Simple Presentation in Dark Blue Dark Minimal Style</dc:title>
</cp:coreProperties>
</file>